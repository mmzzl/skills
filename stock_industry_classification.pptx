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融资融券</c:v>
                </c:pt>
              </c:strCache>
            </c:strRef>
          </c:tx>
          <c:spPr>
            <a:solidFill>
              <a:srgbClr val="2D5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融资融券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3788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深股通</c:v>
                </c:pt>
              </c:strCache>
            </c:strRef>
          </c:tx>
          <c:spPr>
            <a:solidFill>
              <a:srgbClr val="2D5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深股通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沪股通</c:v>
                </c:pt>
              </c:strCache>
            </c:strRef>
          </c:tx>
          <c:spPr>
            <a:solidFill>
              <a:srgbClr val="2D5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沪股通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1544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央国企改革</c:v>
                </c:pt>
              </c:strCache>
            </c:strRef>
          </c:tx>
          <c:spPr>
            <a:solidFill>
              <a:srgbClr val="2D5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央国企改革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1428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创业板综</c:v>
                </c:pt>
              </c:strCache>
            </c:strRef>
          </c:tx>
          <c:spPr>
            <a:solidFill>
              <a:srgbClr val="2D5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创业板综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1347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富时罗素</c:v>
                </c:pt>
              </c:strCache>
            </c:strRef>
          </c:tx>
          <c:spPr>
            <a:solidFill>
              <a:srgbClr val="2D5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富时罗素</c:v>
                  </c:pt>
                </c:lvl>
              </c:multiLvlStrCache>
            </c:multiLvl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1282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专精特新</c:v>
                </c:pt>
              </c:strCache>
            </c:strRef>
          </c:tx>
          <c:spPr>
            <a:solidFill>
              <a:srgbClr val="2D5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专精特新</c:v>
                  </c:pt>
                </c:lvl>
              </c:multiLvlStrCache>
            </c:multiLvlStrRef>
          </c:cat>
          <c:val>
            <c:numRef>
              <c:f>Sheet1!$H$2:$H$2</c:f>
              <c:numCache>
                <c:formatCode>General</c:formatCode>
                <c:ptCount val="1"/>
                <c:pt idx="0">
                  <c:v>1234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机构重仓</c:v>
                </c:pt>
              </c:strCache>
            </c:strRef>
          </c:tx>
          <c:spPr>
            <a:solidFill>
              <a:srgbClr val="2D5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机构重仓</c:v>
                  </c:pt>
                </c:lvl>
              </c:multiLvlStrCache>
            </c:multiLvlStrRef>
          </c:cat>
          <c:val>
            <c:numRef>
              <c:f>Sheet1!$I$2:$I$2</c:f>
              <c:numCache>
                <c:formatCode>General</c:formatCode>
                <c:ptCount val="1"/>
                <c:pt idx="0">
                  <c:v>1125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标准普尔</c:v>
                </c:pt>
              </c:strCache>
            </c:strRef>
          </c:tx>
          <c:spPr>
            <a:solidFill>
              <a:srgbClr val="2D5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标准普尔</c:v>
                  </c:pt>
                </c:lvl>
              </c:multiLvlStrCache>
            </c:multiLvlStrRef>
          </c:cat>
          <c:val>
            <c:numRef>
              <c:f>Sheet1!$J$2:$J$2</c:f>
              <c:numCache>
                <c:formatCode>General</c:formatCode>
                <c:ptCount val="1"/>
                <c:pt idx="0">
                  <c:v>1050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小盘股</c:v>
                </c:pt>
              </c:strCache>
            </c:strRef>
          </c:tx>
          <c:spPr>
            <a:solidFill>
              <a:srgbClr val="2D5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小盘股</c:v>
                  </c:pt>
                </c:lvl>
              </c:multiLvlStrCache>
            </c:multiLvlStrRef>
          </c:cat>
          <c:val>
            <c:numRef>
              <c:f>Sheet1!$K$2:$K$2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A股股票板块分类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 60062 只股票，469 个板块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0"/>
            <a:ext cx="1828800" cy="73152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板块分布概览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4ECDC4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 板块详情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4ECDC4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/>
              <a:tblGrid>
                <a:gridCol w="731520"/>
                <a:gridCol w="5852160"/>
                <a:gridCol w="1645920"/>
              </a:tblGrid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板块名称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股票数量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融资融券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深股通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沪股通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央国企改革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创业板综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富时罗素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专精特新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机构重仓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标准普尔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小盘股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华为概念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人工智能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机器人概念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新能源车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西部大开发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MSCI中国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一带一路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深成500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中证500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半导体概念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2025中报预增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储能概念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光伏概念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节能环保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军工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长江三角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锂电池概念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微盘股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上证380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8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新材料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8229600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88720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排名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88720" y="1188720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板块名称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40880" y="1188720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股票数量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362456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362456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1362456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融资融券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40880" y="1362456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3788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536192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1536192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88720" y="1536192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深股通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40880" y="1536192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1730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1709928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1709928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88720" y="1709928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沪股通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1709928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1544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1883664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883664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88720" y="1883664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央国企改革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0" y="188366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1428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2057400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2057400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88720" y="2057400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创业板综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40880" y="2057400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1347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2231136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2231136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88720" y="2231136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富时罗素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040880" y="2231136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1282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2404872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2404872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7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88720" y="2404872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专精特新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040880" y="2404872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1234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2578608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2578608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8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188720" y="2578608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机构重仓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040880" y="2578608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1125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" y="2752344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" y="2752344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9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188720" y="2752344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标准普尔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040880" y="275234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1050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57200" y="2926080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2926080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10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188720" y="2926080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小盘股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040880" y="2926080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1000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3099816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457200" y="3099816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11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1188720" y="3099816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华为概念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040880" y="3099816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753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457200" y="3273552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4" name="Text 51"/>
          <p:cNvSpPr/>
          <p:nvPr/>
        </p:nvSpPr>
        <p:spPr>
          <a:xfrm>
            <a:off x="457200" y="3273552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12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188720" y="3273552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人工智能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7040880" y="3273552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702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57200" y="3447288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5"/>
          <p:cNvSpPr/>
          <p:nvPr/>
        </p:nvSpPr>
        <p:spPr>
          <a:xfrm>
            <a:off x="457200" y="3447288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13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188720" y="3447288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机器人概念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040880" y="3447288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682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457200" y="3621024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3621024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14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1188720" y="3621024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新能源车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7040880" y="362102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662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457200" y="3794760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/>
          <p:nvPr/>
        </p:nvSpPr>
        <p:spPr>
          <a:xfrm>
            <a:off x="457200" y="3794760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15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1188720" y="3794760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西部大开发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7040880" y="3794760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607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457200" y="3968496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0" name="Text 67"/>
          <p:cNvSpPr/>
          <p:nvPr/>
        </p:nvSpPr>
        <p:spPr>
          <a:xfrm>
            <a:off x="457200" y="3968496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16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1188720" y="3968496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MSCI中国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7040880" y="3968496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569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457200" y="4142232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1"/>
          <p:cNvSpPr/>
          <p:nvPr/>
        </p:nvSpPr>
        <p:spPr>
          <a:xfrm>
            <a:off x="457200" y="4142232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17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1188720" y="4142232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一带一路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7040880" y="4142232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508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457200" y="4315968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8" name="Text 75"/>
          <p:cNvSpPr/>
          <p:nvPr/>
        </p:nvSpPr>
        <p:spPr>
          <a:xfrm>
            <a:off x="457200" y="4315968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18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1188720" y="4315968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深成500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7040880" y="4315968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500</a:t>
            </a:r>
            <a:endParaRPr lang="en-US" sz="1100" dirty="0"/>
          </a:p>
        </p:txBody>
      </p:sp>
      <p:sp>
        <p:nvSpPr>
          <p:cNvPr id="81" name="Shape 78"/>
          <p:cNvSpPr/>
          <p:nvPr/>
        </p:nvSpPr>
        <p:spPr>
          <a:xfrm>
            <a:off x="457200" y="4489704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/>
          <p:nvPr/>
        </p:nvSpPr>
        <p:spPr>
          <a:xfrm>
            <a:off x="457200" y="4489704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19</a:t>
            </a:r>
            <a:endParaRPr lang="en-US" sz="1100" dirty="0"/>
          </a:p>
        </p:txBody>
      </p:sp>
      <p:sp>
        <p:nvSpPr>
          <p:cNvPr id="83" name="Text 80"/>
          <p:cNvSpPr/>
          <p:nvPr/>
        </p:nvSpPr>
        <p:spPr>
          <a:xfrm>
            <a:off x="1188720" y="4489704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中证500</a:t>
            </a:r>
            <a:endParaRPr lang="en-US" sz="1100" dirty="0"/>
          </a:p>
        </p:txBody>
      </p:sp>
      <p:sp>
        <p:nvSpPr>
          <p:cNvPr id="84" name="Text 81"/>
          <p:cNvSpPr/>
          <p:nvPr/>
        </p:nvSpPr>
        <p:spPr>
          <a:xfrm>
            <a:off x="7040880" y="448970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500</a:t>
            </a:r>
            <a:endParaRPr lang="en-US" sz="1100" dirty="0"/>
          </a:p>
        </p:txBody>
      </p:sp>
      <p:sp>
        <p:nvSpPr>
          <p:cNvPr id="85" name="Shape 82"/>
          <p:cNvSpPr/>
          <p:nvPr/>
        </p:nvSpPr>
        <p:spPr>
          <a:xfrm>
            <a:off x="457200" y="4663440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6" name="Text 83"/>
          <p:cNvSpPr/>
          <p:nvPr/>
        </p:nvSpPr>
        <p:spPr>
          <a:xfrm>
            <a:off x="457200" y="4663440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20</a:t>
            </a:r>
            <a:endParaRPr lang="en-US" sz="1100" dirty="0"/>
          </a:p>
        </p:txBody>
      </p:sp>
      <p:sp>
        <p:nvSpPr>
          <p:cNvPr id="87" name="Text 84"/>
          <p:cNvSpPr/>
          <p:nvPr/>
        </p:nvSpPr>
        <p:spPr>
          <a:xfrm>
            <a:off x="1188720" y="4663440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半导体概念</a:t>
            </a:r>
            <a:endParaRPr lang="en-US" sz="1100" dirty="0"/>
          </a:p>
        </p:txBody>
      </p:sp>
      <p:sp>
        <p:nvSpPr>
          <p:cNvPr id="88" name="Text 85"/>
          <p:cNvSpPr/>
          <p:nvPr/>
        </p:nvSpPr>
        <p:spPr>
          <a:xfrm>
            <a:off x="7040880" y="4663440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467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457200" y="4837176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7"/>
          <p:cNvSpPr/>
          <p:nvPr/>
        </p:nvSpPr>
        <p:spPr>
          <a:xfrm>
            <a:off x="457200" y="4837176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21</a:t>
            </a:r>
            <a:endParaRPr lang="en-US" sz="1100" dirty="0"/>
          </a:p>
        </p:txBody>
      </p:sp>
      <p:sp>
        <p:nvSpPr>
          <p:cNvPr id="91" name="Text 88"/>
          <p:cNvSpPr/>
          <p:nvPr/>
        </p:nvSpPr>
        <p:spPr>
          <a:xfrm>
            <a:off x="1188720" y="4837176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2025中报预增</a:t>
            </a:r>
            <a:endParaRPr lang="en-US" sz="1100" dirty="0"/>
          </a:p>
        </p:txBody>
      </p:sp>
      <p:sp>
        <p:nvSpPr>
          <p:cNvPr id="92" name="Text 89"/>
          <p:cNvSpPr/>
          <p:nvPr/>
        </p:nvSpPr>
        <p:spPr>
          <a:xfrm>
            <a:off x="7040880" y="4837176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438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457200" y="5010912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4" name="Text 91"/>
          <p:cNvSpPr/>
          <p:nvPr/>
        </p:nvSpPr>
        <p:spPr>
          <a:xfrm>
            <a:off x="457200" y="5010912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22</a:t>
            </a:r>
            <a:endParaRPr lang="en-US" sz="1100" dirty="0"/>
          </a:p>
        </p:txBody>
      </p:sp>
      <p:sp>
        <p:nvSpPr>
          <p:cNvPr id="95" name="Text 92"/>
          <p:cNvSpPr/>
          <p:nvPr/>
        </p:nvSpPr>
        <p:spPr>
          <a:xfrm>
            <a:off x="1188720" y="5010912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储能概念</a:t>
            </a:r>
            <a:endParaRPr lang="en-US" sz="1100" dirty="0"/>
          </a:p>
        </p:txBody>
      </p:sp>
      <p:sp>
        <p:nvSpPr>
          <p:cNvPr id="96" name="Text 93"/>
          <p:cNvSpPr/>
          <p:nvPr/>
        </p:nvSpPr>
        <p:spPr>
          <a:xfrm>
            <a:off x="7040880" y="5010912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429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457200" y="5184648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5"/>
          <p:cNvSpPr/>
          <p:nvPr/>
        </p:nvSpPr>
        <p:spPr>
          <a:xfrm>
            <a:off x="457200" y="5184648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23</a:t>
            </a:r>
            <a:endParaRPr lang="en-US" sz="1100" dirty="0"/>
          </a:p>
        </p:txBody>
      </p:sp>
      <p:sp>
        <p:nvSpPr>
          <p:cNvPr id="99" name="Text 96"/>
          <p:cNvSpPr/>
          <p:nvPr/>
        </p:nvSpPr>
        <p:spPr>
          <a:xfrm>
            <a:off x="1188720" y="5184648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光伏概念</a:t>
            </a:r>
            <a:endParaRPr lang="en-US" sz="1100" dirty="0"/>
          </a:p>
        </p:txBody>
      </p:sp>
      <p:sp>
        <p:nvSpPr>
          <p:cNvPr id="100" name="Text 97"/>
          <p:cNvSpPr/>
          <p:nvPr/>
        </p:nvSpPr>
        <p:spPr>
          <a:xfrm>
            <a:off x="7040880" y="5184648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427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457200" y="5358384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2" name="Text 99"/>
          <p:cNvSpPr/>
          <p:nvPr/>
        </p:nvSpPr>
        <p:spPr>
          <a:xfrm>
            <a:off x="457200" y="5358384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24</a:t>
            </a:r>
            <a:endParaRPr lang="en-US" sz="1100" dirty="0"/>
          </a:p>
        </p:txBody>
      </p:sp>
      <p:sp>
        <p:nvSpPr>
          <p:cNvPr id="103" name="Text 100"/>
          <p:cNvSpPr/>
          <p:nvPr/>
        </p:nvSpPr>
        <p:spPr>
          <a:xfrm>
            <a:off x="1188720" y="5358384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节能环保</a:t>
            </a:r>
            <a:endParaRPr lang="en-US" sz="1100" dirty="0"/>
          </a:p>
        </p:txBody>
      </p:sp>
      <p:sp>
        <p:nvSpPr>
          <p:cNvPr id="104" name="Text 101"/>
          <p:cNvSpPr/>
          <p:nvPr/>
        </p:nvSpPr>
        <p:spPr>
          <a:xfrm>
            <a:off x="7040880" y="535838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422</a:t>
            </a:r>
            <a:endParaRPr lang="en-US" sz="1100" dirty="0"/>
          </a:p>
        </p:txBody>
      </p:sp>
      <p:sp>
        <p:nvSpPr>
          <p:cNvPr id="105" name="Shape 102"/>
          <p:cNvSpPr/>
          <p:nvPr/>
        </p:nvSpPr>
        <p:spPr>
          <a:xfrm>
            <a:off x="457200" y="5532120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/>
          <p:nvPr/>
        </p:nvSpPr>
        <p:spPr>
          <a:xfrm>
            <a:off x="457200" y="5532120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25</a:t>
            </a:r>
            <a:endParaRPr lang="en-US" sz="1100" dirty="0"/>
          </a:p>
        </p:txBody>
      </p:sp>
      <p:sp>
        <p:nvSpPr>
          <p:cNvPr id="107" name="Text 104"/>
          <p:cNvSpPr/>
          <p:nvPr/>
        </p:nvSpPr>
        <p:spPr>
          <a:xfrm>
            <a:off x="1188720" y="5532120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军工</a:t>
            </a:r>
            <a:endParaRPr lang="en-US" sz="1100" dirty="0"/>
          </a:p>
        </p:txBody>
      </p:sp>
      <p:sp>
        <p:nvSpPr>
          <p:cNvPr id="108" name="Text 105"/>
          <p:cNvSpPr/>
          <p:nvPr/>
        </p:nvSpPr>
        <p:spPr>
          <a:xfrm>
            <a:off x="7040880" y="5532120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420</a:t>
            </a:r>
            <a:endParaRPr lang="en-US" sz="1100" dirty="0"/>
          </a:p>
        </p:txBody>
      </p:sp>
      <p:sp>
        <p:nvSpPr>
          <p:cNvPr id="109" name="Shape 106"/>
          <p:cNvSpPr/>
          <p:nvPr/>
        </p:nvSpPr>
        <p:spPr>
          <a:xfrm>
            <a:off x="457200" y="5705856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0" name="Text 107"/>
          <p:cNvSpPr/>
          <p:nvPr/>
        </p:nvSpPr>
        <p:spPr>
          <a:xfrm>
            <a:off x="457200" y="5705856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26</a:t>
            </a:r>
            <a:endParaRPr lang="en-US" sz="1100" dirty="0"/>
          </a:p>
        </p:txBody>
      </p:sp>
      <p:sp>
        <p:nvSpPr>
          <p:cNvPr id="111" name="Text 108"/>
          <p:cNvSpPr/>
          <p:nvPr/>
        </p:nvSpPr>
        <p:spPr>
          <a:xfrm>
            <a:off x="1188720" y="5705856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长江三角</a:t>
            </a:r>
            <a:endParaRPr lang="en-US" sz="1100" dirty="0"/>
          </a:p>
        </p:txBody>
      </p:sp>
      <p:sp>
        <p:nvSpPr>
          <p:cNvPr id="112" name="Text 109"/>
          <p:cNvSpPr/>
          <p:nvPr/>
        </p:nvSpPr>
        <p:spPr>
          <a:xfrm>
            <a:off x="7040880" y="5705856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411</a:t>
            </a:r>
            <a:endParaRPr lang="en-US" sz="1100" dirty="0"/>
          </a:p>
        </p:txBody>
      </p:sp>
      <p:sp>
        <p:nvSpPr>
          <p:cNvPr id="113" name="Shape 110"/>
          <p:cNvSpPr/>
          <p:nvPr/>
        </p:nvSpPr>
        <p:spPr>
          <a:xfrm>
            <a:off x="457200" y="5879592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1"/>
          <p:cNvSpPr/>
          <p:nvPr/>
        </p:nvSpPr>
        <p:spPr>
          <a:xfrm>
            <a:off x="457200" y="5879592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27</a:t>
            </a:r>
            <a:endParaRPr lang="en-US" sz="1100" dirty="0"/>
          </a:p>
        </p:txBody>
      </p:sp>
      <p:sp>
        <p:nvSpPr>
          <p:cNvPr id="115" name="Text 112"/>
          <p:cNvSpPr/>
          <p:nvPr/>
        </p:nvSpPr>
        <p:spPr>
          <a:xfrm>
            <a:off x="1188720" y="5879592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锂电池概念</a:t>
            </a:r>
            <a:endParaRPr lang="en-US" sz="1100" dirty="0"/>
          </a:p>
        </p:txBody>
      </p:sp>
      <p:sp>
        <p:nvSpPr>
          <p:cNvPr id="116" name="Text 113"/>
          <p:cNvSpPr/>
          <p:nvPr/>
        </p:nvSpPr>
        <p:spPr>
          <a:xfrm>
            <a:off x="7040880" y="5879592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410</a:t>
            </a:r>
            <a:endParaRPr lang="en-US" sz="1100" dirty="0"/>
          </a:p>
        </p:txBody>
      </p:sp>
      <p:sp>
        <p:nvSpPr>
          <p:cNvPr id="117" name="Shape 114"/>
          <p:cNvSpPr/>
          <p:nvPr/>
        </p:nvSpPr>
        <p:spPr>
          <a:xfrm>
            <a:off x="457200" y="6053328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8" name="Text 115"/>
          <p:cNvSpPr/>
          <p:nvPr/>
        </p:nvSpPr>
        <p:spPr>
          <a:xfrm>
            <a:off x="457200" y="6053328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28</a:t>
            </a:r>
            <a:endParaRPr lang="en-US" sz="1100" dirty="0"/>
          </a:p>
        </p:txBody>
      </p:sp>
      <p:sp>
        <p:nvSpPr>
          <p:cNvPr id="119" name="Text 116"/>
          <p:cNvSpPr/>
          <p:nvPr/>
        </p:nvSpPr>
        <p:spPr>
          <a:xfrm>
            <a:off x="1188720" y="6053328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微盘股</a:t>
            </a:r>
            <a:endParaRPr lang="en-US" sz="1100" dirty="0"/>
          </a:p>
        </p:txBody>
      </p:sp>
      <p:sp>
        <p:nvSpPr>
          <p:cNvPr id="120" name="Text 117"/>
          <p:cNvSpPr/>
          <p:nvPr/>
        </p:nvSpPr>
        <p:spPr>
          <a:xfrm>
            <a:off x="7040880" y="6053328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400</a:t>
            </a:r>
            <a:endParaRPr lang="en-US" sz="1100" dirty="0"/>
          </a:p>
        </p:txBody>
      </p:sp>
      <p:sp>
        <p:nvSpPr>
          <p:cNvPr id="121" name="Shape 118"/>
          <p:cNvSpPr/>
          <p:nvPr/>
        </p:nvSpPr>
        <p:spPr>
          <a:xfrm>
            <a:off x="457200" y="6227064"/>
            <a:ext cx="822960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19"/>
          <p:cNvSpPr/>
          <p:nvPr/>
        </p:nvSpPr>
        <p:spPr>
          <a:xfrm>
            <a:off x="457200" y="6227064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29</a:t>
            </a:r>
            <a:endParaRPr lang="en-US" sz="1100" dirty="0"/>
          </a:p>
        </p:txBody>
      </p:sp>
      <p:sp>
        <p:nvSpPr>
          <p:cNvPr id="123" name="Text 120"/>
          <p:cNvSpPr/>
          <p:nvPr/>
        </p:nvSpPr>
        <p:spPr>
          <a:xfrm>
            <a:off x="1188720" y="6227064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上证380</a:t>
            </a:r>
            <a:endParaRPr lang="en-US" sz="1100" dirty="0"/>
          </a:p>
        </p:txBody>
      </p:sp>
      <p:sp>
        <p:nvSpPr>
          <p:cNvPr id="124" name="Text 121"/>
          <p:cNvSpPr/>
          <p:nvPr/>
        </p:nvSpPr>
        <p:spPr>
          <a:xfrm>
            <a:off x="7040880" y="622706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380</a:t>
            </a:r>
            <a:endParaRPr lang="en-US" sz="1100" dirty="0"/>
          </a:p>
        </p:txBody>
      </p:sp>
      <p:sp>
        <p:nvSpPr>
          <p:cNvPr id="125" name="Shape 122"/>
          <p:cNvSpPr/>
          <p:nvPr/>
        </p:nvSpPr>
        <p:spPr>
          <a:xfrm>
            <a:off x="457200" y="6400800"/>
            <a:ext cx="8229600" cy="17373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6" name="Text 123"/>
          <p:cNvSpPr/>
          <p:nvPr/>
        </p:nvSpPr>
        <p:spPr>
          <a:xfrm>
            <a:off x="457200" y="6400800"/>
            <a:ext cx="731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30</a:t>
            </a:r>
            <a:endParaRPr lang="en-US" sz="1100" dirty="0"/>
          </a:p>
        </p:txBody>
      </p:sp>
      <p:sp>
        <p:nvSpPr>
          <p:cNvPr id="127" name="Text 124"/>
          <p:cNvSpPr/>
          <p:nvPr/>
        </p:nvSpPr>
        <p:spPr>
          <a:xfrm>
            <a:off x="1188720" y="6400800"/>
            <a:ext cx="5852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新材料</a:t>
            </a:r>
            <a:endParaRPr lang="en-US" sz="1100" dirty="0"/>
          </a:p>
        </p:txBody>
      </p:sp>
      <p:sp>
        <p:nvSpPr>
          <p:cNvPr id="128" name="Text 125"/>
          <p:cNvSpPr/>
          <p:nvPr/>
        </p:nvSpPr>
        <p:spPr>
          <a:xfrm>
            <a:off x="7040880" y="6400800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380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数据说明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数据来源：A股股票板块分类数据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板块数量：469 个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股票总数：60062 只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数据类型：概念板块（非行业分类）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Stock Analysis Tools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A股股票板块分类</dc:title>
  <dc:subject>PptxGenJS Presentation</dc:subject>
  <dc:creator>Stock Analysis</dc:creator>
  <cp:lastModifiedBy>Stock Analysis</cp:lastModifiedBy>
  <cp:revision>1</cp:revision>
  <dcterms:created xsi:type="dcterms:W3CDTF">2026-05-11T01:16:50Z</dcterms:created>
  <dcterms:modified xsi:type="dcterms:W3CDTF">2026-05-11T01:16:50Z</dcterms:modified>
</cp:coreProperties>
</file>